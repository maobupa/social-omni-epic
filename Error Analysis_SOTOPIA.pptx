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3035cd1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3035cd1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3035cd11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3035cd11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3035cd11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3035cd11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3035cd11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3035cd11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3035cd11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3035cd11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3035cd11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3035cd11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3035cd11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3035cd11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3035cd11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3035cd11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3035cd11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3035cd11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3035cd11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3035cd11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Analysis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Sotopia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GPT 5.1 mini on all Sotopia Scenarios </a:t>
            </a:r>
            <a:endParaRPr/>
          </a:p>
        </p:txBody>
      </p:sp>
      <p:pic>
        <p:nvPicPr>
          <p:cNvPr id="61" name="Google Shape;61;p14" title="Screenshot 2026-06-30 at 8.29.3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125" y="1521449"/>
            <a:ext cx="7908109" cy="3346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996525" y="1050588"/>
            <a:ext cx="67677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Similar success percentage as the held out test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Exit Early without any agreement: 01H7VFHP2XBZ6KDPGEAZ2FN1P2_p0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316738"/>
            <a:ext cx="8520600" cy="37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514">
                <a:solidFill>
                  <a:schemeClr val="dk1"/>
                </a:solidFill>
                <a:highlight>
                  <a:schemeClr val="lt1"/>
                </a:highlight>
              </a:rPr>
              <a:t>     "turn": 3,</a:t>
            </a:r>
            <a:endParaRPr sz="1514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514">
                <a:solidFill>
                  <a:schemeClr val="dk1"/>
                </a:solidFill>
                <a:highlight>
                  <a:schemeClr val="lt1"/>
                </a:highlight>
              </a:rPr>
              <a:t>     "speaker": "Sophia Brown",</a:t>
            </a:r>
            <a:endParaRPr sz="1514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514">
                <a:solidFill>
                  <a:schemeClr val="dk1"/>
                </a:solidFill>
                <a:highlight>
                  <a:schemeClr val="lt1"/>
                </a:highlight>
              </a:rPr>
              <a:t>     "content": "Okay \u2014 here\u2019s a concrete trade: you take all 4 books and 2 hats; I take the other 4 hats and both balls. That\u2019s 16 for you under your scoring (4 books + 2 hats = 16) and 16 for me under mine (4 hats + 2 balls = 16). Does that work for you?"</a:t>
            </a:r>
            <a:endParaRPr sz="1514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514">
                <a:solidFill>
                  <a:schemeClr val="dk1"/>
                </a:solidFill>
                <a:highlight>
                  <a:schemeClr val="lt1"/>
                </a:highlight>
              </a:rPr>
              <a:t>   },</a:t>
            </a:r>
            <a:endParaRPr sz="1514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514">
                <a:solidFill>
                  <a:schemeClr val="dk1"/>
                </a:solidFill>
                <a:highlight>
                  <a:schemeClr val="lt1"/>
                </a:highlight>
              </a:rPr>
              <a:t>   {</a:t>
            </a:r>
            <a:endParaRPr sz="1514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514">
                <a:solidFill>
                  <a:schemeClr val="dk1"/>
                </a:solidFill>
                <a:highlight>
                  <a:schemeClr val="lt1"/>
                </a:highlight>
              </a:rPr>
              <a:t>     "turn": 4,</a:t>
            </a:r>
            <a:endParaRPr sz="1514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514">
                <a:solidFill>
                  <a:schemeClr val="dk1"/>
                </a:solidFill>
                <a:highlight>
                  <a:schemeClr val="lt1"/>
                </a:highlight>
              </a:rPr>
              <a:t>     "speaker": "Naomi Fletcher",</a:t>
            </a:r>
            <a:endParaRPr sz="1514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514">
                <a:solidFill>
                  <a:schemeClr val="dk1"/>
                </a:solidFill>
                <a:highlight>
                  <a:schemeClr val="lt1"/>
                </a:highlight>
              </a:rPr>
              <a:t>     "content": "left the conversation"</a:t>
            </a:r>
            <a:endParaRPr sz="98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Exit Early with partial agreement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01H7VFHP90434Q69V7ADY0VWZJ_p0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349591"/>
            <a:ext cx="8520600" cy="37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highlight>
                  <a:schemeClr val="lt1"/>
                </a:highlight>
              </a:rPr>
              <a:t>     "turn": 5,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highlight>
                  <a:schemeClr val="lt1"/>
                </a:highlight>
              </a:rPr>
              <a:t>     "speaker": "Noah Davis",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highlight>
                  <a:schemeClr val="lt1"/>
                </a:highlight>
              </a:rPr>
              <a:t>     "content": "Thanks, Sophia \u2014 that\u2019s perfect. I\u2019ll verify their EIN and send a quick note to Marisol or Alex; if everything checks out I\u2019ll pledge the $500 tonight. Can you hold the earmarked scholarship spot for an hour while I confirm?"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highlight>
                  <a:schemeClr val="lt1"/>
                </a:highlight>
              </a:rPr>
              <a:t>   },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highlight>
                  <a:schemeClr val="lt1"/>
                </a:highlight>
              </a:rPr>
              <a:t>   {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highlight>
                  <a:schemeClr val="lt1"/>
                </a:highlight>
              </a:rPr>
              <a:t>     "turn": 6,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highlight>
                  <a:schemeClr val="lt1"/>
                </a:highlight>
              </a:rPr>
              <a:t>     "speaker": "Sophia James",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highlight>
                  <a:schemeClr val="lt1"/>
                </a:highlight>
              </a:rPr>
              <a:t>     "content": "left the conversation"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BBBEBF"/>
              </a:solidFill>
              <a:highlight>
                <a:srgbClr val="121314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2114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Unattainable Final Outcome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 is unattainable within the conversation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Look for lost key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Agree to raise staff benefits but final decision need leadership review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 Partial Achieved but with Alternative Solution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Borrow $1000 when goal is $3000 but friend helps by looking for other friends and other repayment programs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Donate $2000 instead of $3000 but offer other help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Try to persuade the other agent to dance but reach agreement of only going to the party and grab </a:t>
            </a:r>
            <a:r>
              <a:rPr lang="en"/>
              <a:t>drinks</a:t>
            </a:r>
            <a:r>
              <a:rPr lang="en"/>
              <a:t> together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Try to persuade a friend to join a trip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(maybe due to incompatible goals)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way to achieve the goal while preserving relationship 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Admit having an </a:t>
            </a:r>
            <a:r>
              <a:rPr lang="en"/>
              <a:t>affair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goal is to end the friendship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Being to pushy/repetitive/interrogative 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Ask what the friend would want for their birthday without letting them aware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"turn": 2, "speaker": "Ethan Johnson", "content": "Nice\u2014I like that. If someone were actually planning a low-key hike or camping weekend for you, where would you want to go and would you prefer a day hike or an overnight? And for the practical stuff\u2014any particular native plant species, coffee kit style, or climate org you\u2019d pick if you had to choose one?"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pic>
        <p:nvPicPr>
          <p:cNvPr id="104" name="Google Shape;104;p21" title="Screenshot 2026-07-03 at 10.35.2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57725"/>
            <a:ext cx="8839204" cy="3435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Five Failure Mode 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/>
              <a:t> Failure mode: goal_ok_rel_negative</a:t>
            </a:r>
            <a:endParaRPr sz="135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/>
              <a:t>  Criteria: goal ≥ 7 AND rel &lt; 0                            </a:t>
            </a:r>
            <a:endParaRPr sz="135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/>
              <a:t>  Plain English: Model achieved its goal but damaged the relationship doing it</a:t>
            </a:r>
            <a:endParaRPr sz="135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/>
              <a:t>    (e.g., pushed too hard, disclosed something harmful)</a:t>
            </a:r>
            <a:endParaRPr sz="135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/>
              <a:t>  Failure mode: both_goal_and_rel_failed</a:t>
            </a:r>
            <a:endParaRPr sz="135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/>
              <a:t>  Criteria: goal &lt; 7 AND rel &lt; 0</a:t>
            </a:r>
            <a:endParaRPr sz="135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350"/>
              <a:t>  Plain English: Full failure — bad goal AND damaged relationship</a:t>
            </a:r>
            <a:endParaRPr sz="135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/>
              <a:t>  Failure mode: goal_close_but_insufficient</a:t>
            </a:r>
            <a:endParaRPr sz="135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/>
              <a:t>  Criteria: goal ≥ 5 AND rel ≥ 0 (and goal &lt; 7)</a:t>
            </a:r>
            <a:endParaRPr sz="135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/>
              <a:t>  Plain English: Made real progress (scored 5–6.9/10) but didn't cross the</a:t>
            </a:r>
            <a:endParaRPr sz="135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n" sz="1350"/>
              <a:t>    threshold — the "near win" bucket</a:t>
            </a:r>
            <a:endParaRPr sz="13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Five Failure Mode 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/>
              <a:t>  Failure mode: goal_partial</a:t>
            </a:r>
            <a:endParaRPr sz="135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/>
              <a:t>  Criteria: goal ≥ 3 AND rel ≥ 0 (and goal &lt; 5)</a:t>
            </a:r>
            <a:endParaRPr sz="135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/>
              <a:t>  Plain English: Partial engagement, scored 3–4.9, relationship intact</a:t>
            </a:r>
            <a:endParaRPr sz="135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/>
              <a:t>  ────────────────────────────────────────</a:t>
            </a:r>
            <a:endParaRPr sz="135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/>
              <a:t>  Failure mode: goal_very_low</a:t>
            </a:r>
            <a:endParaRPr sz="135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/>
              <a:t>  Criteria: goal &lt; 3</a:t>
            </a:r>
            <a:endParaRPr sz="135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/>
              <a:t>  Plain English: Almost nothing achieved — either barely spoke or completely</a:t>
            </a:r>
            <a:endParaRPr sz="135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/>
              <a:t>    failed to engage</a:t>
            </a:r>
            <a:endParaRPr sz="135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3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